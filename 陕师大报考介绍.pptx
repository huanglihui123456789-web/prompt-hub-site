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74896e3bf1c40c9" /><Relationship Type="http://schemas.openxmlformats.org/package/2006/relationships/metadata/core-properties" Target="/docProps/core.xml" Id="Ra47e9376553b43dc" /><Relationship Type="http://schemas.openxmlformats.org/officeDocument/2006/relationships/extended-properties" Target="/docProps/app.xml" Id="R86582a941e424e09" /><Relationship Type="http://schemas.openxmlformats.org/officeDocument/2006/relationships/custom-properties" Target="/docProps/custom.xml" Id="R0a4dbafb25014776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4f20fb6edd424a71"/>
  </p:notesMasterIdLst>
  <p:sldIdLst>
    <p:sldId id="256" r:id="R99bb2e99037b4ebc"/>
    <p:sldId id="257" r:id="R5313e51a9d6641b7"/>
    <p:sldId id="258" r:id="R9f5baf3e238c4aca"/>
    <p:sldId id="259" r:id="Rb86b3bc736884ceb"/>
    <p:sldId id="260" r:id="Ra99c63c4e26c4eda"/>
    <p:sldId id="261" r:id="Ra96ab8a85b3a426a"/>
    <p:sldId id="262" r:id="Rdacddf55cb2f4f2c"/>
    <p:sldId id="263" r:id="R0b6d62edb9c14d8d"/>
    <p:sldId id="264" r:id="R39d1c57c4fe44650"/>
    <p:sldId id="265" r:id="Re041e870de354030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99bb2e99037b4ebc" /><Relationship Type="http://schemas.openxmlformats.org/officeDocument/2006/relationships/notesMaster" Target="/ppt/notesMasters/notesMaster1.xml" Id="R4f20fb6edd424a71" /><Relationship Type="http://schemas.openxmlformats.org/officeDocument/2006/relationships/slide" Target="/ppt/slides/slide2.xml" Id="R5313e51a9d6641b7" /><Relationship Type="http://schemas.openxmlformats.org/officeDocument/2006/relationships/slide" Target="/ppt/slides/slide3.xml" Id="R9f5baf3e238c4aca" /><Relationship Type="http://schemas.openxmlformats.org/officeDocument/2006/relationships/slide" Target="/ppt/slides/slide4.xml" Id="Rb86b3bc736884ceb" /><Relationship Type="http://schemas.openxmlformats.org/officeDocument/2006/relationships/slide" Target="/ppt/slides/slide5.xml" Id="Ra99c63c4e26c4eda" /><Relationship Type="http://schemas.openxmlformats.org/officeDocument/2006/relationships/slide" Target="/ppt/slides/slide6.xml" Id="Ra96ab8a85b3a426a" /><Relationship Type="http://schemas.openxmlformats.org/officeDocument/2006/relationships/slide" Target="/ppt/slides/slide7.xml" Id="Rdacddf55cb2f4f2c" /><Relationship Type="http://schemas.openxmlformats.org/officeDocument/2006/relationships/slide" Target="/ppt/slides/slide8.xml" Id="R0b6d62edb9c14d8d" /><Relationship Type="http://schemas.openxmlformats.org/officeDocument/2006/relationships/slide" Target="/ppt/slides/slide9.xml" Id="R39d1c57c4fe44650" /><Relationship Type="http://schemas.openxmlformats.org/officeDocument/2006/relationships/slide" Target="/ppt/slides/slide10.xml" Id="Re041e870de3540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c9d0ed8374848dc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fdf5ac7ab1b4c5d" /><Relationship Type="http://schemas.openxmlformats.org/officeDocument/2006/relationships/slide" Target="/ppt/slides/slide1.xml" Id="Rc7fef19735644b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a68536cb4114e08" /><Relationship Type="http://schemas.openxmlformats.org/officeDocument/2006/relationships/slide" Target="/ppt/slides/slide2.xml" Id="Re0d8e415a4724a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0a5a37c83194002" /><Relationship Type="http://schemas.openxmlformats.org/officeDocument/2006/relationships/slide" Target="/ppt/slides/slide3.xml" Id="Rba440a18a9bf42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956a0557be549ce" /><Relationship Type="http://schemas.openxmlformats.org/officeDocument/2006/relationships/slide" Target="/ppt/slides/slide4.xml" Id="Ra41eba151e294d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2173a7af8d44d61" /><Relationship Type="http://schemas.openxmlformats.org/officeDocument/2006/relationships/slide" Target="/ppt/slides/slide5.xml" Id="Rfa9e67ebdddd47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639178023454623" /><Relationship Type="http://schemas.openxmlformats.org/officeDocument/2006/relationships/slide" Target="/ppt/slides/slide6.xml" Id="Rd59bda85255a42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4cab7f8458d4dc3" /><Relationship Type="http://schemas.openxmlformats.org/officeDocument/2006/relationships/slide" Target="/ppt/slides/slide7.xml" Id="Ra1d918ac08d94a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e1d4208def54777" /><Relationship Type="http://schemas.openxmlformats.org/officeDocument/2006/relationships/slide" Target="/ppt/slides/slide8.xml" Id="R8912b206e4c246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8c983adbd6a43f6" /><Relationship Type="http://schemas.openxmlformats.org/officeDocument/2006/relationships/slide" Target="/ppt/slides/slide9.xml" Id="R3d045fbf381045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e276358f86d465d" /><Relationship Type="http://schemas.openxmlformats.org/officeDocument/2006/relationships/slide" Target="/ppt/slides/slide10.xml" Id="Rc8c6110244fe445c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开篇点明这是面向高考考生及家长的报考指南，介绍陕西师范大学报考全流程。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介绍学校定位、区位与两校区，强调双一流与211平台，用三张卡片快速建立印象。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用三张卡片讲清师范为本、学科交叉、人文底蕴三大特色。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列举传统优势与传统师范王牌专业，强调以师范特色为基础的学科实力。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讲师资规模与培养贯通，突出名师团队和本硕博/师范生一体化培养。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用四张卡片呈现双校区、社团、人文氛围与西安城市资源四大校园生活切面。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分就业与深造两块讲毕业去向，避免编造具体数据，引导查看官方就业质量报告。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用四张卡片覆盖批次、选科、分数位次与官方渠道，强调一切以当年官方政策为准。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用四步流程+箭头清晰呈现报考路径，强调时间节点以官方发布为准。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结语收束：表达欢迎报考，给出官方信息渠道提醒，并送上祝愿。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06f802a709457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1d31acad63434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a1f8ab3c0249f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3989901825428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7e1a412c1748b5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e8f91acb40d74045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19abd99894978" /><Relationship Type="http://schemas.openxmlformats.org/officeDocument/2006/relationships/notesSlide" Target="/ppt/notesSlides/notesSlide1.xml" Id="Rdb109251e2ee41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1815bc9dd478d" /><Relationship Type="http://schemas.openxmlformats.org/officeDocument/2006/relationships/notesSlide" Target="/ppt/notesSlides/notesSlide2.xml" Id="R7bfc0273665541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e47adc1734ca8" /><Relationship Type="http://schemas.openxmlformats.org/officeDocument/2006/relationships/notesSlide" Target="/ppt/notesSlides/notesSlide3.xml" Id="R467f5f343e2b45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5bdf2aad04d07" /><Relationship Type="http://schemas.openxmlformats.org/officeDocument/2006/relationships/notesSlide" Target="/ppt/notesSlides/notesSlide4.xml" Id="R8082ff83581443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63667b0e6c4dc1" /><Relationship Type="http://schemas.openxmlformats.org/officeDocument/2006/relationships/notesSlide" Target="/ppt/notesSlides/notesSlide5.xml" Id="R931d14c24a5145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54d50f85d4a93" /><Relationship Type="http://schemas.openxmlformats.org/officeDocument/2006/relationships/notesSlide" Target="/ppt/notesSlides/notesSlide6.xml" Id="R94841c2093944f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5ea640d3548d8" /><Relationship Type="http://schemas.openxmlformats.org/officeDocument/2006/relationships/notesSlide" Target="/ppt/notesSlides/notesSlide7.xml" Id="Rede9e729dc2e41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ab1cf1a01a47f0" /><Relationship Type="http://schemas.openxmlformats.org/officeDocument/2006/relationships/notesSlide" Target="/ppt/notesSlides/notesSlide8.xml" Id="R0afb1d75f49f4d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69aa1694544e95" /><Relationship Type="http://schemas.openxmlformats.org/officeDocument/2006/relationships/notesSlide" Target="/ppt/notesSlides/notesSlide9.xml" Id="Rb8093e7925764d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f7172d9ae4c24" /><Relationship Type="http://schemas.openxmlformats.org/officeDocument/2006/relationships/notesSlide" Target="/ppt/notesSlides/notesSlide10.xml" Id="R68e4bc6d60064697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8E2430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720000" y="2376000"/>
            <a:ext cx="107532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400" b="1">
                <a:solidFill>
                  <a:srgbClr val="FFFFFF"/>
                </a:solidFill>
                <a:latin typeface="微软雅黑"/>
                <a:ea typeface="微软雅黑"/>
              </a:rPr>
              <a:t>陕西师范大学报考指南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720000" y="3672000"/>
            <a:ext cx="107532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>
                <a:solidFill>
                  <a:srgbClr val="F4E5D2"/>
                </a:solidFill>
                <a:latin typeface="微软雅黑"/>
                <a:ea typeface="微软雅黑"/>
              </a:rPr>
              <a:t>—— 从报考到录取的全面攻略 ——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720000" y="4464000"/>
            <a:ext cx="1075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D4A843"/>
                </a:solidFill>
                <a:latin typeface="微软雅黑"/>
                <a:ea typeface="微软雅黑"/>
              </a:rPr>
              <a:t>面向 2026 年高考考生及家长 · 志愿填报参考</a:t>
            </a:r>
          </a:p>
        </p:txBody>
      </p:sp>
      <p:sp>
        <p:nvSpPr>
          <p:cNvPr id="100003" name="TextBox 4"/>
          <p:cNvSpPr/>
          <p:nvPr/>
        </p:nvSpPr>
        <p:spPr>
          <a:xfrm xmlns:a="http://schemas.openxmlformats.org/drawingml/2006/main">
            <a:off x="0" y="6642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84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4" name="TextBox 1"/>
          <p:cNvSpPr txBox="1"/>
          <p:nvPr/>
        </p:nvSpPr>
        <p:spPr>
          <a:xfrm xmlns:a="http://schemas.openxmlformats.org/drawingml/2006/main">
            <a:off x="864000" y="396000"/>
            <a:ext cx="1044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8E2430"/>
                </a:solidFill>
                <a:latin typeface="微软雅黑"/>
                <a:ea typeface="微软雅黑"/>
              </a:rPr>
              <a:t>学校概况 · 一所底蕴深厚的师范名校</a:t>
            </a:r>
          </a:p>
        </p:txBody>
      </p:sp>
      <p:sp>
        <p:nvSpPr>
          <p:cNvPr id="100005" name="TextBox 2"/>
          <p:cNvSpPr/>
          <p:nvPr/>
        </p:nvSpPr>
        <p:spPr>
          <a:xfrm xmlns:a="http://schemas.openxmlformats.org/drawingml/2006/main">
            <a:off x="576000" y="540000"/>
            <a:ext cx="162000" cy="1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84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6" name="TextBox 3"/>
          <p:cNvSpPr/>
          <p:nvPr/>
        </p:nvSpPr>
        <p:spPr>
          <a:xfrm xmlns:a="http://schemas.openxmlformats.org/drawingml/2006/main">
            <a:off x="576000" y="1224000"/>
            <a:ext cx="6192000" cy="4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1E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7" name="TextBox 4"/>
          <p:cNvSpPr txBox="1"/>
          <p:nvPr/>
        </p:nvSpPr>
        <p:spPr>
          <a:xfrm xmlns:a="http://schemas.openxmlformats.org/drawingml/2006/main">
            <a:off x="792000" y="1404000"/>
            <a:ext cx="5616000" cy="41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333333"/>
                </a:solidFill>
                <a:latin typeface="微软雅黑"/>
                <a:ea typeface="微软雅黑"/>
              </a:rPr>
              <a:t>陕西师范大学，坐落于十三朝古都西安，教育部直属的全国重点大学，国家首批“双一流”建设高校，也是国家“211工程”重点建设高校，创建于 1944 年。</a:t>
            </a:r>
          </a:p>
          <a:p xmlns:a="http://schemas.openxmlformats.org/drawingml/2006/main">
            <a:r>
              <a:rPr lang="en-US" sz="1700">
                <a:solidFill>
                  <a:srgbClr val="333333"/>
                </a:solidFill>
                <a:latin typeface="微软雅黑"/>
                <a:ea typeface="微软雅黑"/>
              </a:rPr>
              <a:t>学校以教师教育为特色、多学科协调发展，素有“教师教育的一方高台”之誉，是西北乃至全国基础教育师资培养的重要基地。</a:t>
            </a:r>
          </a:p>
          <a:p xmlns:a="http://schemas.openxmlformats.org/drawingml/2006/main">
            <a:r>
              <a:rPr lang="en-US" sz="1700">
                <a:solidFill>
                  <a:srgbClr val="333333"/>
                </a:solidFill>
                <a:latin typeface="微软雅黑"/>
                <a:ea typeface="微软雅黑"/>
              </a:rPr>
              <a:t>现有长安、雁塔两个校区，校园环境优美，人文底蕴深厚，为学子成长提供了优质平台。</a:t>
            </a:r>
          </a:p>
        </p:txBody>
      </p:sp>
      <p:sp>
        <p:nvSpPr>
          <p:cNvPr id="100008" name="TextBox 5"/>
          <p:cNvSpPr/>
          <p:nvPr/>
        </p:nvSpPr>
        <p:spPr>
          <a:xfrm xmlns:a="http://schemas.openxmlformats.org/drawingml/2006/main">
            <a:off x="7164000" y="1224000"/>
            <a:ext cx="4176000" cy="133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E243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9" name="TextBox 6"/>
          <p:cNvSpPr txBox="1"/>
          <p:nvPr/>
        </p:nvSpPr>
        <p:spPr>
          <a:xfrm xmlns:a="http://schemas.openxmlformats.org/drawingml/2006/main">
            <a:off x="7308000" y="1332000"/>
            <a:ext cx="3888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800" b="1">
                <a:solidFill>
                  <a:srgbClr val="FFFFFF"/>
                </a:solidFill>
                <a:latin typeface="微软雅黑"/>
                <a:ea typeface="微软雅黑"/>
              </a:rPr>
              <a:t>1944</a:t>
            </a:r>
          </a:p>
        </p:txBody>
      </p:sp>
      <p:sp>
        <p:nvSpPr>
          <p:cNvPr id="100010" name="TextBox 7"/>
          <p:cNvSpPr txBox="1"/>
          <p:nvPr/>
        </p:nvSpPr>
        <p:spPr>
          <a:xfrm xmlns:a="http://schemas.openxmlformats.org/drawingml/2006/main">
            <a:off x="7308000" y="2160000"/>
            <a:ext cx="3888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F4E5D2"/>
                </a:solidFill>
                <a:latin typeface="微软雅黑"/>
                <a:ea typeface="微软雅黑"/>
              </a:rPr>
              <a:t>建校年份 · 古都西安</a:t>
            </a:r>
          </a:p>
        </p:txBody>
      </p:sp>
      <p:sp>
        <p:nvSpPr>
          <p:cNvPr id="100011" name="TextBox 8"/>
          <p:cNvSpPr/>
          <p:nvPr/>
        </p:nvSpPr>
        <p:spPr>
          <a:xfrm xmlns:a="http://schemas.openxmlformats.org/drawingml/2006/main">
            <a:off x="7164000" y="2880000"/>
            <a:ext cx="4176000" cy="133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E243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2" name="TextBox 9"/>
          <p:cNvSpPr txBox="1"/>
          <p:nvPr/>
        </p:nvSpPr>
        <p:spPr>
          <a:xfrm xmlns:a="http://schemas.openxmlformats.org/drawingml/2006/main">
            <a:off x="7308000" y="2988000"/>
            <a:ext cx="3888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000" b="1">
                <a:solidFill>
                  <a:srgbClr val="FFFFFF"/>
                </a:solidFill>
                <a:latin typeface="微软雅黑"/>
                <a:ea typeface="微软雅黑"/>
              </a:rPr>
              <a:t>211 · 双一流</a:t>
            </a:r>
          </a:p>
        </p:txBody>
      </p:sp>
      <p:sp>
        <p:nvSpPr>
          <p:cNvPr id="100013" name="TextBox 10"/>
          <p:cNvSpPr txBox="1"/>
          <p:nvPr/>
        </p:nvSpPr>
        <p:spPr>
          <a:xfrm xmlns:a="http://schemas.openxmlformats.org/drawingml/2006/main">
            <a:off x="7308000" y="3816000"/>
            <a:ext cx="3888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F4E5D2"/>
                </a:solidFill>
                <a:latin typeface="微软雅黑"/>
                <a:ea typeface="微软雅黑"/>
              </a:rPr>
              <a:t>国家重点建设高校平台</a:t>
            </a:r>
          </a:p>
        </p:txBody>
      </p:sp>
      <p:sp>
        <p:nvSpPr>
          <p:cNvPr id="100014" name="TextBox 11"/>
          <p:cNvSpPr/>
          <p:nvPr/>
        </p:nvSpPr>
        <p:spPr>
          <a:xfrm xmlns:a="http://schemas.openxmlformats.org/drawingml/2006/main">
            <a:off x="7164000" y="4536000"/>
            <a:ext cx="4176000" cy="118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E243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5" name="TextBox 12"/>
          <p:cNvSpPr txBox="1"/>
          <p:nvPr/>
        </p:nvSpPr>
        <p:spPr>
          <a:xfrm xmlns:a="http://schemas.openxmlformats.org/drawingml/2006/main">
            <a:off x="7308000" y="4644000"/>
            <a:ext cx="3888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000" b="1">
                <a:solidFill>
                  <a:srgbClr val="FFFFFF"/>
                </a:solidFill>
                <a:latin typeface="微软雅黑"/>
                <a:ea typeface="微软雅黑"/>
              </a:rPr>
              <a:t>师范为根</a:t>
            </a:r>
          </a:p>
        </p:txBody>
      </p:sp>
      <p:sp>
        <p:nvSpPr>
          <p:cNvPr id="100016" name="TextBox 13"/>
          <p:cNvSpPr txBox="1"/>
          <p:nvPr/>
        </p:nvSpPr>
        <p:spPr>
          <a:xfrm xmlns:a="http://schemas.openxmlformats.org/drawingml/2006/main">
            <a:off x="7308000" y="5328000"/>
            <a:ext cx="3888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F4E5D2"/>
                </a:solidFill>
                <a:latin typeface="微软雅黑"/>
                <a:ea typeface="微软雅黑"/>
              </a:rPr>
              <a:t>教师教育特色鲜明</a:t>
            </a:r>
          </a:p>
        </p:txBody>
      </p:sp>
      <p:sp>
        <p:nvSpPr>
          <p:cNvPr id="100017" name="TextBox 14"/>
          <p:cNvSpPr txBox="1"/>
          <p:nvPr/>
        </p:nvSpPr>
        <p:spPr>
          <a:xfrm xmlns:a="http://schemas.openxmlformats.org/drawingml/2006/main">
            <a:off x="10944000" y="6552000"/>
            <a:ext cx="7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200">
                <a:solidFill>
                  <a:srgbClr val="8E7C6E"/>
                </a:solidFill>
                <a:latin typeface="微软雅黑"/>
                <a:ea typeface="微软雅黑"/>
              </a:rPr>
              <a:t>2 / 10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8" name="TextBox 1"/>
          <p:cNvSpPr txBox="1"/>
          <p:nvPr/>
        </p:nvSpPr>
        <p:spPr>
          <a:xfrm xmlns:a="http://schemas.openxmlformats.org/drawingml/2006/main">
            <a:off x="864000" y="396000"/>
            <a:ext cx="1044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8E2430"/>
                </a:solidFill>
                <a:latin typeface="微软雅黑"/>
                <a:ea typeface="微软雅黑"/>
              </a:rPr>
              <a:t>办学特色 · 师范为根 · 学科交叉</a:t>
            </a:r>
          </a:p>
        </p:txBody>
      </p:sp>
      <p:sp>
        <p:nvSpPr>
          <p:cNvPr id="100019" name="TextBox 2"/>
          <p:cNvSpPr/>
          <p:nvPr/>
        </p:nvSpPr>
        <p:spPr>
          <a:xfrm xmlns:a="http://schemas.openxmlformats.org/drawingml/2006/main">
            <a:off x="576000" y="540000"/>
            <a:ext cx="162000" cy="1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84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0" name="TextBox 3"/>
          <p:cNvSpPr/>
          <p:nvPr/>
        </p:nvSpPr>
        <p:spPr>
          <a:xfrm xmlns:a="http://schemas.openxmlformats.org/drawingml/2006/main">
            <a:off x="576000" y="1224000"/>
            <a:ext cx="35640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E243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1" name="TextBox 4"/>
          <p:cNvSpPr txBox="1"/>
          <p:nvPr/>
        </p:nvSpPr>
        <p:spPr>
          <a:xfrm xmlns:a="http://schemas.openxmlformats.org/drawingml/2006/main">
            <a:off x="684000" y="1512000"/>
            <a:ext cx="3348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FFFFFF"/>
                </a:solidFill>
                <a:latin typeface="微软雅黑"/>
                <a:ea typeface="微软雅黑"/>
              </a:rPr>
              <a:t>师范为本</a:t>
            </a:r>
          </a:p>
        </p:txBody>
      </p:sp>
      <p:sp>
        <p:nvSpPr>
          <p:cNvPr id="100022" name="TextBox 5"/>
          <p:cNvSpPr txBox="1"/>
          <p:nvPr/>
        </p:nvSpPr>
        <p:spPr>
          <a:xfrm xmlns:a="http://schemas.openxmlformats.org/drawingml/2006/main">
            <a:off x="684000" y="2232000"/>
            <a:ext cx="3348000" cy="25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F4E5D2"/>
                </a:solidFill>
                <a:latin typeface="微软雅黑"/>
                <a:ea typeface="微软雅黑"/>
              </a:rPr>
              <a:t>深耕基础教育教师培养，师范生培养体系完备，具备从本科到博士的完整教师教育链条，毕业生广受中西部基础教育欢迎。</a:t>
            </a:r>
          </a:p>
        </p:txBody>
      </p:sp>
      <p:sp>
        <p:nvSpPr>
          <p:cNvPr id="100023" name="TextBox 6"/>
          <p:cNvSpPr/>
          <p:nvPr/>
        </p:nvSpPr>
        <p:spPr>
          <a:xfrm xmlns:a="http://schemas.openxmlformats.org/drawingml/2006/main">
            <a:off x="4374000" y="1224000"/>
            <a:ext cx="35640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1E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4" name="TextBox 7"/>
          <p:cNvSpPr txBox="1"/>
          <p:nvPr/>
        </p:nvSpPr>
        <p:spPr>
          <a:xfrm xmlns:a="http://schemas.openxmlformats.org/drawingml/2006/main">
            <a:off x="4482000" y="1512000"/>
            <a:ext cx="3348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8E2430"/>
                </a:solidFill>
                <a:latin typeface="微软雅黑"/>
                <a:ea typeface="微软雅黑"/>
              </a:rPr>
              <a:t>学科交叉</a:t>
            </a:r>
          </a:p>
        </p:txBody>
      </p:sp>
      <p:sp>
        <p:nvSpPr>
          <p:cNvPr id="100025" name="TextBox 8"/>
          <p:cNvSpPr txBox="1"/>
          <p:nvPr/>
        </p:nvSpPr>
        <p:spPr>
          <a:xfrm xmlns:a="http://schemas.openxmlformats.org/drawingml/2006/main">
            <a:off x="4482000" y="2232000"/>
            <a:ext cx="3438000" cy="25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微软雅黑"/>
                <a:ea typeface="微软雅黑"/>
              </a:rPr>
              <a:t>学科门类齐全，文、理、工、经、管、法、教育、艺术等协调发展，鼓励跨学科融合与复合型人才培养。</a:t>
            </a:r>
          </a:p>
        </p:txBody>
      </p:sp>
      <p:sp>
        <p:nvSpPr>
          <p:cNvPr id="100026" name="TextBox 9"/>
          <p:cNvSpPr/>
          <p:nvPr/>
        </p:nvSpPr>
        <p:spPr>
          <a:xfrm xmlns:a="http://schemas.openxmlformats.org/drawingml/2006/main">
            <a:off x="8172000" y="1224000"/>
            <a:ext cx="35640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E243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7" name="TextBox 10"/>
          <p:cNvSpPr txBox="1"/>
          <p:nvPr/>
        </p:nvSpPr>
        <p:spPr>
          <a:xfrm xmlns:a="http://schemas.openxmlformats.org/drawingml/2006/main">
            <a:off x="8280000" y="1512000"/>
            <a:ext cx="3348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FFFFFF"/>
                </a:solidFill>
                <a:latin typeface="微软雅黑"/>
                <a:ea typeface="微软雅黑"/>
              </a:rPr>
              <a:t>人文底蕴</a:t>
            </a:r>
          </a:p>
        </p:txBody>
      </p:sp>
      <p:sp>
        <p:nvSpPr>
          <p:cNvPr id="100028" name="TextBox 11"/>
          <p:cNvSpPr txBox="1"/>
          <p:nvPr/>
        </p:nvSpPr>
        <p:spPr>
          <a:xfrm xmlns:a="http://schemas.openxmlformats.org/drawingml/2006/main">
            <a:off x="8280000" y="2232000"/>
            <a:ext cx="3438000" cy="25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F4E5D2"/>
                </a:solidFill>
                <a:latin typeface="微软雅黑"/>
                <a:ea typeface="微软雅黑"/>
              </a:rPr>
              <a:t>身处古都西安，高校云集、文博资源丰富，博物馆、古迹与名家讲座近在咫尺，学术人文氛围十分浓郁。</a:t>
            </a:r>
          </a:p>
        </p:txBody>
      </p:sp>
      <p:sp>
        <p:nvSpPr>
          <p:cNvPr id="100029" name="TextBox 12"/>
          <p:cNvSpPr txBox="1"/>
          <p:nvPr/>
        </p:nvSpPr>
        <p:spPr>
          <a:xfrm xmlns:a="http://schemas.openxmlformats.org/drawingml/2006/main">
            <a:off x="10944000" y="6552000"/>
            <a:ext cx="7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200">
                <a:solidFill>
                  <a:srgbClr val="8E7C6E"/>
                </a:solidFill>
                <a:latin typeface="微软雅黑"/>
                <a:ea typeface="微软雅黑"/>
              </a:rPr>
              <a:t>3 / 10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30" name="TextBox 1"/>
          <p:cNvSpPr txBox="1"/>
          <p:nvPr/>
        </p:nvSpPr>
        <p:spPr>
          <a:xfrm xmlns:a="http://schemas.openxmlformats.org/drawingml/2006/main">
            <a:off x="864000" y="396000"/>
            <a:ext cx="1044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8E2430"/>
                </a:solidFill>
                <a:latin typeface="微软雅黑"/>
                <a:ea typeface="微软雅黑"/>
              </a:rPr>
              <a:t>优势学科 · 一流建设与王牌专业</a:t>
            </a:r>
          </a:p>
        </p:txBody>
      </p:sp>
      <p:sp>
        <p:nvSpPr>
          <p:cNvPr id="100031" name="TextBox 2"/>
          <p:cNvSpPr/>
          <p:nvPr/>
        </p:nvSpPr>
        <p:spPr>
          <a:xfrm xmlns:a="http://schemas.openxmlformats.org/drawingml/2006/main">
            <a:off x="576000" y="540000"/>
            <a:ext cx="162000" cy="1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84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2" name="TextBox 3"/>
          <p:cNvSpPr/>
          <p:nvPr/>
        </p:nvSpPr>
        <p:spPr>
          <a:xfrm xmlns:a="http://schemas.openxmlformats.org/drawingml/2006/main">
            <a:off x="576000" y="1188000"/>
            <a:ext cx="3420000" cy="201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1E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3" name="TextBox 4"/>
          <p:cNvSpPr txBox="1"/>
          <p:nvPr/>
        </p:nvSpPr>
        <p:spPr>
          <a:xfrm xmlns:a="http://schemas.openxmlformats.org/drawingml/2006/main">
            <a:off x="720000" y="1296000"/>
            <a:ext cx="3132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8E2430"/>
                </a:solidFill>
                <a:latin typeface="微软雅黑"/>
                <a:ea typeface="微软雅黑"/>
              </a:rPr>
              <a:t>中国语言文学</a:t>
            </a:r>
          </a:p>
        </p:txBody>
      </p:sp>
      <p:sp>
        <p:nvSpPr>
          <p:cNvPr id="100034" name="TextBox 5"/>
          <p:cNvSpPr txBox="1"/>
          <p:nvPr/>
        </p:nvSpPr>
        <p:spPr>
          <a:xfrm xmlns:a="http://schemas.openxmlformats.org/drawingml/2006/main">
            <a:off x="720000" y="1908000"/>
            <a:ext cx="3132000" cy="93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微软雅黑"/>
                <a:ea typeface="微软雅黑"/>
              </a:rPr>
              <a:t>传统优势学科，文科实力雄厚，师范方向特色突出。</a:t>
            </a:r>
          </a:p>
        </p:txBody>
      </p:sp>
      <p:sp>
        <p:nvSpPr>
          <p:cNvPr id="100035" name="TextBox 6"/>
          <p:cNvSpPr/>
          <p:nvPr/>
        </p:nvSpPr>
        <p:spPr>
          <a:xfrm xmlns:a="http://schemas.openxmlformats.org/drawingml/2006/main">
            <a:off x="4392000" y="1188000"/>
            <a:ext cx="3420000" cy="201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1E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6" name="TextBox 7"/>
          <p:cNvSpPr txBox="1"/>
          <p:nvPr/>
        </p:nvSpPr>
        <p:spPr>
          <a:xfrm xmlns:a="http://schemas.openxmlformats.org/drawingml/2006/main">
            <a:off x="4536000" y="1296000"/>
            <a:ext cx="3132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8E2430"/>
                </a:solidFill>
                <a:latin typeface="微软雅黑"/>
                <a:ea typeface="微软雅黑"/>
              </a:rPr>
              <a:t>教育学</a:t>
            </a:r>
          </a:p>
        </p:txBody>
      </p:sp>
      <p:sp>
        <p:nvSpPr>
          <p:cNvPr id="100037" name="TextBox 8"/>
          <p:cNvSpPr txBox="1"/>
          <p:nvPr/>
        </p:nvSpPr>
        <p:spPr>
          <a:xfrm xmlns:a="http://schemas.openxmlformats.org/drawingml/2006/main">
            <a:off x="4536000" y="1908000"/>
            <a:ext cx="3132000" cy="93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微软雅黑"/>
                <a:ea typeface="微软雅黑"/>
              </a:rPr>
              <a:t>面向基础教育的核心学科，一流学科建设的重点方向。</a:t>
            </a:r>
          </a:p>
        </p:txBody>
      </p:sp>
      <p:sp>
        <p:nvSpPr>
          <p:cNvPr id="100038" name="TextBox 9"/>
          <p:cNvSpPr/>
          <p:nvPr/>
        </p:nvSpPr>
        <p:spPr>
          <a:xfrm xmlns:a="http://schemas.openxmlformats.org/drawingml/2006/main">
            <a:off x="8208000" y="1188000"/>
            <a:ext cx="3420000" cy="201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1E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9" name="TextBox 10"/>
          <p:cNvSpPr txBox="1"/>
          <p:nvPr/>
        </p:nvSpPr>
        <p:spPr>
          <a:xfrm xmlns:a="http://schemas.openxmlformats.org/drawingml/2006/main">
            <a:off x="8352000" y="1296000"/>
            <a:ext cx="3132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8E2430"/>
                </a:solidFill>
                <a:latin typeface="微软雅黑"/>
                <a:ea typeface="微软雅黑"/>
              </a:rPr>
              <a:t>历史学（中国史）</a:t>
            </a:r>
          </a:p>
        </p:txBody>
      </p:sp>
      <p:sp>
        <p:nvSpPr>
          <p:cNvPr id="100040" name="TextBox 11"/>
          <p:cNvSpPr txBox="1"/>
          <p:nvPr/>
        </p:nvSpPr>
        <p:spPr>
          <a:xfrm xmlns:a="http://schemas.openxmlformats.org/drawingml/2006/main">
            <a:off x="8352000" y="1908000"/>
            <a:ext cx="3132000" cy="93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微软雅黑"/>
                <a:ea typeface="微软雅黑"/>
              </a:rPr>
              <a:t>地处西安，考古与历史研究资源得天独厚。</a:t>
            </a:r>
          </a:p>
        </p:txBody>
      </p:sp>
      <p:sp>
        <p:nvSpPr>
          <p:cNvPr id="100041" name="TextBox 12"/>
          <p:cNvSpPr/>
          <p:nvPr/>
        </p:nvSpPr>
        <p:spPr>
          <a:xfrm xmlns:a="http://schemas.openxmlformats.org/drawingml/2006/main">
            <a:off x="576000" y="3384000"/>
            <a:ext cx="3420000" cy="201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1E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2" name="TextBox 13"/>
          <p:cNvSpPr txBox="1"/>
          <p:nvPr/>
        </p:nvSpPr>
        <p:spPr>
          <a:xfrm xmlns:a="http://schemas.openxmlformats.org/drawingml/2006/main">
            <a:off x="720000" y="3492000"/>
            <a:ext cx="3132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8E2430"/>
                </a:solidFill>
                <a:latin typeface="微软雅黑"/>
                <a:ea typeface="微软雅黑"/>
              </a:rPr>
              <a:t>数学与应用数学（师范）</a:t>
            </a:r>
          </a:p>
        </p:txBody>
      </p:sp>
      <p:sp>
        <p:nvSpPr>
          <p:cNvPr id="100043" name="TextBox 14"/>
          <p:cNvSpPr txBox="1"/>
          <p:nvPr/>
        </p:nvSpPr>
        <p:spPr>
          <a:xfrm xmlns:a="http://schemas.openxmlformats.org/drawingml/2006/main">
            <a:off x="720000" y="4104000"/>
            <a:ext cx="3240000" cy="93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微软雅黑"/>
                <a:ea typeface="微软雅黑"/>
              </a:rPr>
              <a:t>理科基础扎实，师范生培养体系成熟。</a:t>
            </a:r>
          </a:p>
        </p:txBody>
      </p:sp>
      <p:sp>
        <p:nvSpPr>
          <p:cNvPr id="100044" name="TextBox 15"/>
          <p:cNvSpPr/>
          <p:nvPr/>
        </p:nvSpPr>
        <p:spPr>
          <a:xfrm xmlns:a="http://schemas.openxmlformats.org/drawingml/2006/main">
            <a:off x="4392000" y="3384000"/>
            <a:ext cx="3420000" cy="201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1E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5" name="TextBox 16"/>
          <p:cNvSpPr txBox="1"/>
          <p:nvPr/>
        </p:nvSpPr>
        <p:spPr>
          <a:xfrm xmlns:a="http://schemas.openxmlformats.org/drawingml/2006/main">
            <a:off x="4536000" y="3492000"/>
            <a:ext cx="3132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8E2430"/>
                </a:solidFill>
                <a:latin typeface="微软雅黑"/>
                <a:ea typeface="微软雅黑"/>
              </a:rPr>
              <a:t>物理学（师范）</a:t>
            </a:r>
          </a:p>
        </p:txBody>
      </p:sp>
      <p:sp>
        <p:nvSpPr>
          <p:cNvPr id="100046" name="TextBox 17"/>
          <p:cNvSpPr txBox="1"/>
          <p:nvPr/>
        </p:nvSpPr>
        <p:spPr>
          <a:xfrm xmlns:a="http://schemas.openxmlformats.org/drawingml/2006/main">
            <a:off x="4536000" y="4104000"/>
            <a:ext cx="3132000" cy="93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>
            <a:r>
              <a:rPr lang="en-US" sz="1400">
                <a:solidFill>
                  <a:srgbClr val="333333"/>
                </a:solidFill>
                <a:latin typeface="微软雅黑"/>
                <a:ea typeface="微软雅黑"/>
              </a:rPr>
              <a:t>理论教学与实践兼备，</a:t>
            </a:r>
          </a:p>
          <a:p>
            <a:r>
              <a:rPr lang="en-US" sz="1400">
                <a:solidFill>
                  <a:srgbClr val="333333"/>
                </a:solidFill>
                <a:latin typeface="微软雅黑"/>
                <a:ea typeface="微软雅黑"/>
              </a:rPr>
              <a:t>科研平台不断完善。</a:t>
            </a:r>
          </a:p>
        </p:txBody>
      </p:sp>
      <p:sp>
        <p:nvSpPr>
          <p:cNvPr id="100047" name="TextBox 18"/>
          <p:cNvSpPr/>
          <p:nvPr/>
        </p:nvSpPr>
        <p:spPr>
          <a:xfrm xmlns:a="http://schemas.openxmlformats.org/drawingml/2006/main">
            <a:off x="8208000" y="3384000"/>
            <a:ext cx="3420000" cy="201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1E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8" name="TextBox 19"/>
          <p:cNvSpPr txBox="1"/>
          <p:nvPr/>
        </p:nvSpPr>
        <p:spPr>
          <a:xfrm xmlns:a="http://schemas.openxmlformats.org/drawingml/2006/main">
            <a:off x="8352000" y="3492000"/>
            <a:ext cx="3132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8E2430"/>
                </a:solidFill>
                <a:latin typeface="微软雅黑"/>
                <a:ea typeface="微软雅黑"/>
              </a:rPr>
              <a:t>化学（师范）</a:t>
            </a:r>
          </a:p>
        </p:txBody>
      </p:sp>
      <p:sp>
        <p:nvSpPr>
          <p:cNvPr id="100049" name="TextBox 20"/>
          <p:cNvSpPr txBox="1"/>
          <p:nvPr/>
        </p:nvSpPr>
        <p:spPr>
          <a:xfrm xmlns:a="http://schemas.openxmlformats.org/drawingml/2006/main">
            <a:off x="8352000" y="4104000"/>
            <a:ext cx="3132000" cy="93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33333"/>
                </a:solidFill>
                <a:latin typeface="微软雅黑"/>
                <a:ea typeface="微软雅黑"/>
              </a:rPr>
              <a:t>教学科研并重，实验条件优越。</a:t>
            </a:r>
          </a:p>
        </p:txBody>
      </p:sp>
      <p:sp>
        <p:nvSpPr>
          <p:cNvPr id="100050" name="TextBox 21"/>
          <p:cNvSpPr txBox="1"/>
          <p:nvPr/>
        </p:nvSpPr>
        <p:spPr>
          <a:xfrm xmlns:a="http://schemas.openxmlformats.org/drawingml/2006/main">
            <a:off x="576000" y="5616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E7C6E"/>
                </a:solidFill>
                <a:latin typeface="微软雅黑"/>
                <a:ea typeface="微软雅黑"/>
              </a:rPr>
              <a:t>注：学科方向与具体专业以当年招生计划为准。</a:t>
            </a:r>
          </a:p>
        </p:txBody>
      </p:sp>
      <p:sp>
        <p:nvSpPr>
          <p:cNvPr id="100051" name="TextBox 22"/>
          <p:cNvSpPr txBox="1"/>
          <p:nvPr/>
        </p:nvSpPr>
        <p:spPr>
          <a:xfrm xmlns:a="http://schemas.openxmlformats.org/drawingml/2006/main">
            <a:off x="10944000" y="6552000"/>
            <a:ext cx="7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200">
                <a:solidFill>
                  <a:srgbClr val="8E7C6E"/>
                </a:solidFill>
                <a:latin typeface="微软雅黑"/>
                <a:ea typeface="微软雅黑"/>
              </a:rPr>
              <a:t>4 / 10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52" name="TextBox 1"/>
          <p:cNvSpPr txBox="1"/>
          <p:nvPr/>
        </p:nvSpPr>
        <p:spPr>
          <a:xfrm xmlns:a="http://schemas.openxmlformats.org/drawingml/2006/main">
            <a:off x="864000" y="396000"/>
            <a:ext cx="1044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8E2430"/>
                </a:solidFill>
                <a:latin typeface="微软雅黑"/>
                <a:ea typeface="微软雅黑"/>
              </a:rPr>
              <a:t>师资力量 · 名师引领 · 贯通培养</a:t>
            </a:r>
          </a:p>
        </p:txBody>
      </p:sp>
      <p:sp>
        <p:nvSpPr>
          <p:cNvPr id="100053" name="TextBox 2"/>
          <p:cNvSpPr/>
          <p:nvPr/>
        </p:nvSpPr>
        <p:spPr>
          <a:xfrm xmlns:a="http://schemas.openxmlformats.org/drawingml/2006/main">
            <a:off x="576000" y="540000"/>
            <a:ext cx="162000" cy="1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84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4" name="TextBox 3"/>
          <p:cNvSpPr/>
          <p:nvPr/>
        </p:nvSpPr>
        <p:spPr>
          <a:xfrm xmlns:a="http://schemas.openxmlformats.org/drawingml/2006/main">
            <a:off x="576000" y="1224000"/>
            <a:ext cx="5472000" cy="37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1E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5" name="TextBox 4"/>
          <p:cNvSpPr txBox="1"/>
          <p:nvPr/>
        </p:nvSpPr>
        <p:spPr>
          <a:xfrm xmlns:a="http://schemas.openxmlformats.org/drawingml/2006/main">
            <a:off x="720000" y="1368000"/>
            <a:ext cx="4680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8E2430"/>
                </a:solidFill>
                <a:latin typeface="微软雅黑"/>
                <a:ea typeface="微软雅黑"/>
              </a:rPr>
              <a:t>雄厚的师资队伍</a:t>
            </a:r>
          </a:p>
        </p:txBody>
      </p:sp>
      <p:sp>
        <p:nvSpPr>
          <p:cNvPr id="100056" name="TextBox 5"/>
          <p:cNvSpPr txBox="1"/>
          <p:nvPr/>
        </p:nvSpPr>
        <p:spPr>
          <a:xfrm xmlns:a="http://schemas.openxmlformats.org/drawingml/2006/main">
            <a:off x="720000" y="1944000"/>
            <a:ext cx="4824000" cy="25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333333"/>
                </a:solidFill>
                <a:latin typeface="微软雅黑"/>
                <a:ea typeface="微软雅黑"/>
              </a:rPr>
              <a:t>汇聚高水平师资，拥有国家级教学名师与各学科带头人，形成“名师 + 团队”的传帮带培养模式；众多教授长期扎根基础教育教学研究，为学子提供贯穿全程的学术指导。</a:t>
            </a:r>
          </a:p>
        </p:txBody>
      </p:sp>
      <p:sp>
        <p:nvSpPr>
          <p:cNvPr id="100057" name="TextBox 6"/>
          <p:cNvSpPr/>
          <p:nvPr/>
        </p:nvSpPr>
        <p:spPr>
          <a:xfrm xmlns:a="http://schemas.openxmlformats.org/drawingml/2006/main">
            <a:off x="6336000" y="1224000"/>
            <a:ext cx="5256000" cy="37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E243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8" name="TextBox 7"/>
          <p:cNvSpPr txBox="1"/>
          <p:nvPr/>
        </p:nvSpPr>
        <p:spPr>
          <a:xfrm xmlns:a="http://schemas.openxmlformats.org/drawingml/2006/main">
            <a:off x="6480000" y="1368000"/>
            <a:ext cx="4680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微软雅黑"/>
                <a:ea typeface="微软雅黑"/>
              </a:rPr>
              <a:t>本硕博贯通培养</a:t>
            </a:r>
          </a:p>
        </p:txBody>
      </p:sp>
      <p:sp>
        <p:nvSpPr>
          <p:cNvPr id="100059" name="TextBox 8"/>
          <p:cNvSpPr txBox="1"/>
          <p:nvPr/>
        </p:nvSpPr>
        <p:spPr>
          <a:xfrm xmlns:a="http://schemas.openxmlformats.org/drawingml/2006/main">
            <a:off x="6480000" y="1944000"/>
            <a:ext cx="4896000" cy="25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F4E5D2"/>
                </a:solidFill>
                <a:latin typeface="微软雅黑"/>
                <a:ea typeface="微软雅黑"/>
              </a:rPr>
              <a:t>构建从本科到硕士、博士的贯通培养体系；师范生实施“职前培养 + 职后发展”一体化；设有拔尖创新项目与公费师范生等多元培养路径，助力学子精准定位、个性成长。</a:t>
            </a:r>
          </a:p>
        </p:txBody>
      </p:sp>
      <p:sp>
        <p:nvSpPr>
          <p:cNvPr id="100060" name="TextBox 9"/>
          <p:cNvSpPr/>
          <p:nvPr/>
        </p:nvSpPr>
        <p:spPr>
          <a:xfrm xmlns:a="http://schemas.openxmlformats.org/drawingml/2006/main">
            <a:off x="576000" y="5292000"/>
            <a:ext cx="11016000" cy="10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E7D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1" name="TextBox 10"/>
          <p:cNvSpPr txBox="1"/>
          <p:nvPr/>
        </p:nvSpPr>
        <p:spPr>
          <a:xfrm xmlns:a="http://schemas.openxmlformats.org/drawingml/2006/main">
            <a:off x="792000" y="5436000"/>
            <a:ext cx="10584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8E2430"/>
                </a:solidFill>
                <a:latin typeface="微软雅黑"/>
                <a:ea typeface="微软雅黑"/>
              </a:rPr>
              <a:t>支撑平台：国家级实验教学示范中心、省部级重点实验室与人文社科研究基地等，为你提供一流的科研与实践练兵场。</a:t>
            </a:r>
          </a:p>
        </p:txBody>
      </p:sp>
      <p:sp>
        <p:nvSpPr>
          <p:cNvPr id="100062" name="TextBox 11"/>
          <p:cNvSpPr txBox="1"/>
          <p:nvPr/>
        </p:nvSpPr>
        <p:spPr>
          <a:xfrm xmlns:a="http://schemas.openxmlformats.org/drawingml/2006/main">
            <a:off x="10944000" y="6552000"/>
            <a:ext cx="7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200">
                <a:solidFill>
                  <a:srgbClr val="8E7C6E"/>
                </a:solidFill>
                <a:latin typeface="微软雅黑"/>
                <a:ea typeface="微软雅黑"/>
              </a:rPr>
              <a:t>5 / 10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63" name="TextBox 1"/>
          <p:cNvSpPr txBox="1"/>
          <p:nvPr/>
        </p:nvSpPr>
        <p:spPr>
          <a:xfrm xmlns:a="http://schemas.openxmlformats.org/drawingml/2006/main">
            <a:off x="864000" y="396000"/>
            <a:ext cx="1044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8E2430"/>
                </a:solidFill>
                <a:latin typeface="微软雅黑"/>
                <a:ea typeface="微软雅黑"/>
              </a:rPr>
              <a:t>校园生活 · 在古都西安遇见更好的自己</a:t>
            </a:r>
          </a:p>
        </p:txBody>
      </p:sp>
      <p:sp>
        <p:nvSpPr>
          <p:cNvPr id="100064" name="TextBox 2"/>
          <p:cNvSpPr/>
          <p:nvPr/>
        </p:nvSpPr>
        <p:spPr>
          <a:xfrm xmlns:a="http://schemas.openxmlformats.org/drawingml/2006/main">
            <a:off x="576000" y="540000"/>
            <a:ext cx="162000" cy="1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84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5" name="TextBox 3"/>
          <p:cNvSpPr/>
          <p:nvPr/>
        </p:nvSpPr>
        <p:spPr>
          <a:xfrm xmlns:a="http://schemas.openxmlformats.org/drawingml/2006/main">
            <a:off x="576000" y="1224000"/>
            <a:ext cx="5472000" cy="237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1E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6" name="TextBox 4"/>
          <p:cNvSpPr txBox="1"/>
          <p:nvPr/>
        </p:nvSpPr>
        <p:spPr>
          <a:xfrm xmlns:a="http://schemas.openxmlformats.org/drawingml/2006/main">
            <a:off x="720000" y="1368000"/>
            <a:ext cx="468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8E2430"/>
                </a:solidFill>
                <a:latin typeface="微软雅黑"/>
                <a:ea typeface="微软雅黑"/>
              </a:rPr>
              <a:t>双校区 · 多元空间</a:t>
            </a:r>
          </a:p>
        </p:txBody>
      </p:sp>
      <p:sp>
        <p:nvSpPr>
          <p:cNvPr id="100067" name="TextBox 5"/>
          <p:cNvSpPr txBox="1"/>
          <p:nvPr/>
        </p:nvSpPr>
        <p:spPr>
          <a:xfrm xmlns:a="http://schemas.openxmlformats.org/drawingml/2006/main">
            <a:off x="720000" y="1944000"/>
            <a:ext cx="4752000" cy="12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微软雅黑"/>
                <a:ea typeface="微软雅黑"/>
              </a:rPr>
              <a:t>长安、雁塔两校区功能互补，现代化教学楼、图书馆、体育场馆一应俱全，学习生活便捷舒适。</a:t>
            </a:r>
          </a:p>
        </p:txBody>
      </p:sp>
      <p:sp>
        <p:nvSpPr>
          <p:cNvPr id="100068" name="TextBox 6"/>
          <p:cNvSpPr/>
          <p:nvPr/>
        </p:nvSpPr>
        <p:spPr>
          <a:xfrm xmlns:a="http://schemas.openxmlformats.org/drawingml/2006/main">
            <a:off x="6336000" y="1224000"/>
            <a:ext cx="5256000" cy="237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E243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9" name="TextBox 7"/>
          <p:cNvSpPr txBox="1"/>
          <p:nvPr/>
        </p:nvSpPr>
        <p:spPr>
          <a:xfrm xmlns:a="http://schemas.openxmlformats.org/drawingml/2006/main">
            <a:off x="6480000" y="1368000"/>
            <a:ext cx="468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FFFFF"/>
                </a:solidFill>
                <a:latin typeface="微软雅黑"/>
                <a:ea typeface="微软雅黑"/>
              </a:rPr>
              <a:t>社团与文体活动</a:t>
            </a:r>
          </a:p>
        </p:txBody>
      </p:sp>
      <p:sp>
        <p:nvSpPr>
          <p:cNvPr id="100070" name="TextBox 8"/>
          <p:cNvSpPr txBox="1"/>
          <p:nvPr/>
        </p:nvSpPr>
        <p:spPr>
          <a:xfrm xmlns:a="http://schemas.openxmlformats.org/drawingml/2006/main">
            <a:off x="6480000" y="1944000"/>
            <a:ext cx="4896000" cy="12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F4E5D2"/>
                </a:solidFill>
                <a:latin typeface="微软雅黑"/>
                <a:ea typeface="微软雅黑"/>
              </a:rPr>
              <a:t>百余个学生社团覆盖学术、文艺、体育、公益等方向，校园文化丰富多彩，人人都能找到自己的舞台。</a:t>
            </a:r>
          </a:p>
        </p:txBody>
      </p:sp>
      <p:sp>
        <p:nvSpPr>
          <p:cNvPr id="100071" name="TextBox 9"/>
          <p:cNvSpPr/>
          <p:nvPr/>
        </p:nvSpPr>
        <p:spPr>
          <a:xfrm xmlns:a="http://schemas.openxmlformats.org/drawingml/2006/main">
            <a:off x="576000" y="3744000"/>
            <a:ext cx="5472000" cy="237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E243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2" name="TextBox 10"/>
          <p:cNvSpPr txBox="1"/>
          <p:nvPr/>
        </p:nvSpPr>
        <p:spPr>
          <a:xfrm xmlns:a="http://schemas.openxmlformats.org/drawingml/2006/main">
            <a:off x="720000" y="3888000"/>
            <a:ext cx="468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FFFFF"/>
                </a:solidFill>
                <a:latin typeface="微软雅黑"/>
                <a:ea typeface="微软雅黑"/>
              </a:rPr>
              <a:t>学术与人文氛围</a:t>
            </a:r>
          </a:p>
        </p:txBody>
      </p:sp>
      <p:sp>
        <p:nvSpPr>
          <p:cNvPr id="100073" name="TextBox 11"/>
          <p:cNvSpPr txBox="1"/>
          <p:nvPr/>
        </p:nvSpPr>
        <p:spPr>
          <a:xfrm xmlns:a="http://schemas.openxmlformats.org/drawingml/2006/main">
            <a:off x="720000" y="4464000"/>
            <a:ext cx="4752000" cy="12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F4E5D2"/>
                </a:solidFill>
                <a:latin typeface="微软雅黑"/>
                <a:ea typeface="微软雅黑"/>
              </a:rPr>
              <a:t>名家讲座、学术竞赛、文博研学常态化开展，在浓厚的学术气息与人文滋养中不断成长。</a:t>
            </a:r>
          </a:p>
        </p:txBody>
      </p:sp>
      <p:sp>
        <p:nvSpPr>
          <p:cNvPr id="100074" name="TextBox 12"/>
          <p:cNvSpPr/>
          <p:nvPr/>
        </p:nvSpPr>
        <p:spPr>
          <a:xfrm xmlns:a="http://schemas.openxmlformats.org/drawingml/2006/main">
            <a:off x="6336000" y="3744000"/>
            <a:ext cx="5256000" cy="237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1E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5" name="TextBox 13"/>
          <p:cNvSpPr txBox="1"/>
          <p:nvPr/>
        </p:nvSpPr>
        <p:spPr>
          <a:xfrm xmlns:a="http://schemas.openxmlformats.org/drawingml/2006/main">
            <a:off x="6480000" y="3888000"/>
            <a:ext cx="468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8E2430"/>
                </a:solidFill>
                <a:latin typeface="微软雅黑"/>
                <a:ea typeface="微软雅黑"/>
              </a:rPr>
              <a:t>坐拥西安 · 城市资源</a:t>
            </a:r>
          </a:p>
        </p:txBody>
      </p:sp>
      <p:sp>
        <p:nvSpPr>
          <p:cNvPr id="100076" name="TextBox 14"/>
          <p:cNvSpPr txBox="1"/>
          <p:nvPr/>
        </p:nvSpPr>
        <p:spPr>
          <a:xfrm xmlns:a="http://schemas.openxmlformats.org/drawingml/2006/main">
            <a:off x="6480000" y="4464000"/>
            <a:ext cx="4896000" cy="12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微软雅黑"/>
                <a:ea typeface="微软雅黑"/>
              </a:rPr>
              <a:t>古都西安高校云集、文博资源丰富，实习实践与文化生活选择众多，让校园与城市同频共振。</a:t>
            </a:r>
          </a:p>
        </p:txBody>
      </p:sp>
      <p:sp>
        <p:nvSpPr>
          <p:cNvPr id="100077" name="TextBox 15"/>
          <p:cNvSpPr txBox="1"/>
          <p:nvPr/>
        </p:nvSpPr>
        <p:spPr>
          <a:xfrm xmlns:a="http://schemas.openxmlformats.org/drawingml/2006/main">
            <a:off x="10944000" y="6552000"/>
            <a:ext cx="7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200">
                <a:solidFill>
                  <a:srgbClr val="8E7C6E"/>
                </a:solidFill>
                <a:latin typeface="微软雅黑"/>
                <a:ea typeface="微软雅黑"/>
              </a:rPr>
              <a:t>6 / 10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78" name="TextBox 1"/>
          <p:cNvSpPr txBox="1"/>
          <p:nvPr/>
        </p:nvSpPr>
        <p:spPr>
          <a:xfrm xmlns:a="http://schemas.openxmlformats.org/drawingml/2006/main">
            <a:off x="864000" y="396000"/>
            <a:ext cx="1044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8E2430"/>
                </a:solidFill>
                <a:latin typeface="微软雅黑"/>
                <a:ea typeface="微软雅黑"/>
              </a:rPr>
              <a:t>毕业去向 · 就业深造双保障</a:t>
            </a:r>
          </a:p>
        </p:txBody>
      </p:sp>
      <p:sp>
        <p:nvSpPr>
          <p:cNvPr id="100079" name="TextBox 2"/>
          <p:cNvSpPr/>
          <p:nvPr/>
        </p:nvSpPr>
        <p:spPr>
          <a:xfrm xmlns:a="http://schemas.openxmlformats.org/drawingml/2006/main">
            <a:off x="576000" y="540000"/>
            <a:ext cx="162000" cy="1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84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0" name="TextBox 3"/>
          <p:cNvSpPr/>
          <p:nvPr/>
        </p:nvSpPr>
        <p:spPr>
          <a:xfrm xmlns:a="http://schemas.openxmlformats.org/drawingml/2006/main">
            <a:off x="576000" y="1224000"/>
            <a:ext cx="5472000" cy="39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1E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1" name="TextBox 4"/>
          <p:cNvSpPr txBox="1"/>
          <p:nvPr/>
        </p:nvSpPr>
        <p:spPr>
          <a:xfrm xmlns:a="http://schemas.openxmlformats.org/drawingml/2006/main">
            <a:off x="720000" y="1404000"/>
            <a:ext cx="4680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8E2430"/>
                </a:solidFill>
                <a:latin typeface="微软雅黑"/>
                <a:ea typeface="微软雅黑"/>
              </a:rPr>
              <a:t>就业有保障</a:t>
            </a:r>
          </a:p>
        </p:txBody>
      </p:sp>
      <p:sp>
        <p:nvSpPr>
          <p:cNvPr id="100082" name="TextBox 5"/>
          <p:cNvSpPr txBox="1"/>
          <p:nvPr/>
        </p:nvSpPr>
        <p:spPr>
          <a:xfrm xmlns:a="http://schemas.openxmlformats.org/drawingml/2006/main">
            <a:off x="720000" y="2016000"/>
            <a:ext cx="4824000" cy="266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333333"/>
                </a:solidFill>
                <a:latin typeface="微软雅黑"/>
                <a:ea typeface="微软雅黑"/>
              </a:rPr>
              <a:t>就业去向多元，覆盖全国基础教育、政府事业单位、国有企业、教育科技等行业；依托教育部直属高校平台与师范特色，毕业生在各地教师招录中竞争优势明显，深受用人单位认可。</a:t>
            </a:r>
          </a:p>
        </p:txBody>
      </p:sp>
      <p:sp>
        <p:nvSpPr>
          <p:cNvPr id="100083" name="TextBox 6"/>
          <p:cNvSpPr/>
          <p:nvPr/>
        </p:nvSpPr>
        <p:spPr>
          <a:xfrm xmlns:a="http://schemas.openxmlformats.org/drawingml/2006/main">
            <a:off x="6336000" y="1224000"/>
            <a:ext cx="5256000" cy="39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E243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4" name="TextBox 7"/>
          <p:cNvSpPr txBox="1"/>
          <p:nvPr/>
        </p:nvSpPr>
        <p:spPr>
          <a:xfrm xmlns:a="http://schemas.openxmlformats.org/drawingml/2006/main">
            <a:off x="6480000" y="1404000"/>
            <a:ext cx="4752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FFFFFF"/>
                </a:solidFill>
                <a:latin typeface="微软雅黑"/>
                <a:ea typeface="微软雅黑"/>
              </a:rPr>
              <a:t>深造路畅通</a:t>
            </a:r>
          </a:p>
        </p:txBody>
      </p:sp>
      <p:sp>
        <p:nvSpPr>
          <p:cNvPr id="100085" name="TextBox 8"/>
          <p:cNvSpPr txBox="1"/>
          <p:nvPr/>
        </p:nvSpPr>
        <p:spPr>
          <a:xfrm xmlns:a="http://schemas.openxmlformats.org/drawingml/2006/main">
            <a:off x="6480000" y="2016000"/>
            <a:ext cx="4896000" cy="266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F4E5D2"/>
                </a:solidFill>
                <a:latin typeface="微软雅黑"/>
                <a:ea typeface="微软雅黑"/>
              </a:rPr>
              <a:t>保研、考研与出国深造通道齐备；依托良好学风与学科平台，众多学子进入国内外一流高校继续深造，升学质量保持高位。</a:t>
            </a:r>
          </a:p>
        </p:txBody>
      </p:sp>
      <p:sp>
        <p:nvSpPr>
          <p:cNvPr id="100086" name="TextBox 9"/>
          <p:cNvSpPr txBox="1"/>
          <p:nvPr/>
        </p:nvSpPr>
        <p:spPr>
          <a:xfrm xmlns:a="http://schemas.openxmlformats.org/drawingml/2006/main">
            <a:off x="576000" y="5472000"/>
            <a:ext cx="108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8E7C6E"/>
                </a:solidFill>
                <a:latin typeface="微软雅黑"/>
                <a:ea typeface="微软雅黑"/>
              </a:rPr>
              <a:t>更详尽的就业率、升学率与就业流向，请以学校发布的年度《就业质量报告》为准。</a:t>
            </a:r>
          </a:p>
        </p:txBody>
      </p:sp>
      <p:sp>
        <p:nvSpPr>
          <p:cNvPr id="100087" name="TextBox 10"/>
          <p:cNvSpPr txBox="1"/>
          <p:nvPr/>
        </p:nvSpPr>
        <p:spPr>
          <a:xfrm xmlns:a="http://schemas.openxmlformats.org/drawingml/2006/main">
            <a:off x="10944000" y="6552000"/>
            <a:ext cx="7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200">
                <a:solidFill>
                  <a:srgbClr val="8E7C6E"/>
                </a:solidFill>
                <a:latin typeface="微软雅黑"/>
                <a:ea typeface="微软雅黑"/>
              </a:rPr>
              <a:t>7 / 10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88" name="TextBox 1"/>
          <p:cNvSpPr txBox="1"/>
          <p:nvPr/>
        </p:nvSpPr>
        <p:spPr>
          <a:xfrm xmlns:a="http://schemas.openxmlformats.org/drawingml/2006/main">
            <a:off x="864000" y="396000"/>
            <a:ext cx="1044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8E2430"/>
                </a:solidFill>
                <a:latin typeface="微软雅黑"/>
                <a:ea typeface="微软雅黑"/>
              </a:rPr>
              <a:t>报考录取 · 关键信息一览</a:t>
            </a:r>
          </a:p>
        </p:txBody>
      </p:sp>
      <p:sp>
        <p:nvSpPr>
          <p:cNvPr id="100089" name="TextBox 2"/>
          <p:cNvSpPr/>
          <p:nvPr/>
        </p:nvSpPr>
        <p:spPr>
          <a:xfrm xmlns:a="http://schemas.openxmlformats.org/drawingml/2006/main">
            <a:off x="576000" y="540000"/>
            <a:ext cx="162000" cy="1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84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0" name="TextBox 3"/>
          <p:cNvSpPr/>
          <p:nvPr/>
        </p:nvSpPr>
        <p:spPr>
          <a:xfrm xmlns:a="http://schemas.openxmlformats.org/drawingml/2006/main">
            <a:off x="576000" y="1188000"/>
            <a:ext cx="5472000" cy="208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1E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1" name="TextBox 4"/>
          <p:cNvSpPr txBox="1"/>
          <p:nvPr/>
        </p:nvSpPr>
        <p:spPr>
          <a:xfrm xmlns:a="http://schemas.openxmlformats.org/drawingml/2006/main">
            <a:off x="720000" y="1332000"/>
            <a:ext cx="468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8E2430"/>
                </a:solidFill>
                <a:latin typeface="微软雅黑"/>
                <a:ea typeface="微软雅黑"/>
              </a:rPr>
              <a:t>招生批次</a:t>
            </a:r>
          </a:p>
        </p:txBody>
      </p:sp>
      <p:sp>
        <p:nvSpPr>
          <p:cNvPr id="100092" name="TextBox 5"/>
          <p:cNvSpPr txBox="1"/>
          <p:nvPr/>
        </p:nvSpPr>
        <p:spPr>
          <a:xfrm xmlns:a="http://schemas.openxmlformats.org/drawingml/2006/main">
            <a:off x="720000" y="1908000"/>
            <a:ext cx="4824000" cy="11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333333"/>
                </a:solidFill>
                <a:latin typeface="微软雅黑"/>
                <a:ea typeface="微软雅黑"/>
              </a:rPr>
              <a:t>一般在普通类本科批次招生，部分地区或专业另有安排，具体以本省招考机构公布的批次设置为准。</a:t>
            </a:r>
          </a:p>
        </p:txBody>
      </p:sp>
      <p:sp>
        <p:nvSpPr>
          <p:cNvPr id="100093" name="TextBox 6"/>
          <p:cNvSpPr/>
          <p:nvPr/>
        </p:nvSpPr>
        <p:spPr>
          <a:xfrm xmlns:a="http://schemas.openxmlformats.org/drawingml/2006/main">
            <a:off x="6336000" y="1188000"/>
            <a:ext cx="5256000" cy="208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E243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4" name="TextBox 7"/>
          <p:cNvSpPr txBox="1"/>
          <p:nvPr/>
        </p:nvSpPr>
        <p:spPr>
          <a:xfrm xmlns:a="http://schemas.openxmlformats.org/drawingml/2006/main">
            <a:off x="6480000" y="1332000"/>
            <a:ext cx="468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FFFFF"/>
                </a:solidFill>
                <a:latin typeface="微软雅黑"/>
                <a:ea typeface="微软雅黑"/>
              </a:rPr>
              <a:t>选科与专业组</a:t>
            </a:r>
          </a:p>
        </p:txBody>
      </p:sp>
      <p:sp>
        <p:nvSpPr>
          <p:cNvPr id="100095" name="TextBox 8"/>
          <p:cNvSpPr txBox="1"/>
          <p:nvPr/>
        </p:nvSpPr>
        <p:spPr>
          <a:xfrm xmlns:a="http://schemas.openxmlformats.org/drawingml/2006/main">
            <a:off x="6480000" y="1908000"/>
            <a:ext cx="4896000" cy="11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F4E5D2"/>
                </a:solidFill>
                <a:latin typeface="微软雅黑"/>
                <a:ea typeface="微软雅黑"/>
              </a:rPr>
              <a:t>不同专业组对首选与再选科目有明确要求，填报前请对照本省选科指引与专业组目录逐条核对。</a:t>
            </a:r>
          </a:p>
        </p:txBody>
      </p:sp>
      <p:sp>
        <p:nvSpPr>
          <p:cNvPr id="100096" name="TextBox 9"/>
          <p:cNvSpPr/>
          <p:nvPr/>
        </p:nvSpPr>
        <p:spPr>
          <a:xfrm xmlns:a="http://schemas.openxmlformats.org/drawingml/2006/main">
            <a:off x="576000" y="3456000"/>
            <a:ext cx="5472000" cy="208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E243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7" name="TextBox 10"/>
          <p:cNvSpPr txBox="1"/>
          <p:nvPr/>
        </p:nvSpPr>
        <p:spPr>
          <a:xfrm xmlns:a="http://schemas.openxmlformats.org/drawingml/2006/main">
            <a:off x="720000" y="3600000"/>
            <a:ext cx="468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FFFFF"/>
                </a:solidFill>
                <a:latin typeface="微软雅黑"/>
                <a:ea typeface="微软雅黑"/>
              </a:rPr>
              <a:t>分数与位次</a:t>
            </a:r>
          </a:p>
        </p:txBody>
      </p:sp>
      <p:sp>
        <p:nvSpPr>
          <p:cNvPr id="100098" name="TextBox 11"/>
          <p:cNvSpPr txBox="1"/>
          <p:nvPr/>
        </p:nvSpPr>
        <p:spPr>
          <a:xfrm xmlns:a="http://schemas.openxmlformats.org/drawingml/2006/main">
            <a:off x="720000" y="4176000"/>
            <a:ext cx="4824000" cy="11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F4E5D2"/>
                </a:solidFill>
                <a:latin typeface="微软雅黑"/>
                <a:ea typeface="微软雅黑"/>
              </a:rPr>
              <a:t>录取分数线与位次逐年浮动，建议结合历年录取数据与本年度考生位次，合理设置冲、稳、保梯度。</a:t>
            </a:r>
          </a:p>
        </p:txBody>
      </p:sp>
      <p:sp>
        <p:nvSpPr>
          <p:cNvPr id="100099" name="TextBox 12"/>
          <p:cNvSpPr/>
          <p:nvPr/>
        </p:nvSpPr>
        <p:spPr>
          <a:xfrm xmlns:a="http://schemas.openxmlformats.org/drawingml/2006/main">
            <a:off x="6336000" y="3456000"/>
            <a:ext cx="5256000" cy="208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1E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0" name="TextBox 13"/>
          <p:cNvSpPr txBox="1"/>
          <p:nvPr/>
        </p:nvSpPr>
        <p:spPr>
          <a:xfrm xmlns:a="http://schemas.openxmlformats.org/drawingml/2006/main">
            <a:off x="6480000" y="3600000"/>
            <a:ext cx="468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8E2430"/>
                </a:solidFill>
                <a:latin typeface="微软雅黑"/>
                <a:ea typeface="微软雅黑"/>
              </a:rPr>
              <a:t>官方信息渠道</a:t>
            </a:r>
          </a:p>
        </p:txBody>
      </p:sp>
      <p:sp>
        <p:nvSpPr>
          <p:cNvPr id="100101" name="TextBox 14"/>
          <p:cNvSpPr txBox="1"/>
          <p:nvPr/>
        </p:nvSpPr>
        <p:spPr>
          <a:xfrm xmlns:a="http://schemas.openxmlformats.org/drawingml/2006/main">
            <a:off x="6480000" y="4176000"/>
            <a:ext cx="4896000" cy="11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333333"/>
                </a:solidFill>
                <a:latin typeface="微软雅黑"/>
                <a:ea typeface="微软雅黑"/>
              </a:rPr>
              <a:t>以学校本科招生网、官方招生办、省级教育考试院发布为准，谨防非正规渠道的虚假信息。</a:t>
            </a:r>
          </a:p>
        </p:txBody>
      </p:sp>
      <p:sp>
        <p:nvSpPr>
          <p:cNvPr id="100102" name="TextBox 15"/>
          <p:cNvSpPr txBox="1"/>
          <p:nvPr/>
        </p:nvSpPr>
        <p:spPr>
          <a:xfrm xmlns:a="http://schemas.openxmlformats.org/drawingml/2006/main">
            <a:off x="576000" y="5760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8E7C6E"/>
                </a:solidFill>
                <a:latin typeface="微软雅黑"/>
                <a:ea typeface="微软雅黑"/>
              </a:rPr>
              <a:t>注：全部录取政策以教育部及陕西省当年招生文件为准。</a:t>
            </a:r>
          </a:p>
        </p:txBody>
      </p:sp>
      <p:sp>
        <p:nvSpPr>
          <p:cNvPr id="100103" name="TextBox 16"/>
          <p:cNvSpPr txBox="1"/>
          <p:nvPr/>
        </p:nvSpPr>
        <p:spPr>
          <a:xfrm xmlns:a="http://schemas.openxmlformats.org/drawingml/2006/main">
            <a:off x="10944000" y="6552000"/>
            <a:ext cx="7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200">
                <a:solidFill>
                  <a:srgbClr val="8E7C6E"/>
                </a:solidFill>
                <a:latin typeface="微软雅黑"/>
                <a:ea typeface="微软雅黑"/>
              </a:rPr>
              <a:t>8 / 10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04" name="TextBox 1"/>
          <p:cNvSpPr txBox="1"/>
          <p:nvPr/>
        </p:nvSpPr>
        <p:spPr>
          <a:xfrm xmlns:a="http://schemas.openxmlformats.org/drawingml/2006/main">
            <a:off x="864000" y="396000"/>
            <a:ext cx="1044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8E2430"/>
                </a:solidFill>
                <a:latin typeface="微软雅黑"/>
                <a:ea typeface="微软雅黑"/>
              </a:rPr>
              <a:t>报考流程 · 四步走进陕师大</a:t>
            </a:r>
          </a:p>
        </p:txBody>
      </p:sp>
      <p:sp>
        <p:nvSpPr>
          <p:cNvPr id="100105" name="TextBox 2"/>
          <p:cNvSpPr/>
          <p:nvPr/>
        </p:nvSpPr>
        <p:spPr>
          <a:xfrm xmlns:a="http://schemas.openxmlformats.org/drawingml/2006/main">
            <a:off x="576000" y="540000"/>
            <a:ext cx="162000" cy="1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84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6" name="TextBox 3"/>
          <p:cNvSpPr/>
          <p:nvPr/>
        </p:nvSpPr>
        <p:spPr>
          <a:xfrm xmlns:a="http://schemas.openxmlformats.org/drawingml/2006/main">
            <a:off x="1566000" y="2376000"/>
            <a:ext cx="504000" cy="50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84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7" name="TextBox 4"/>
          <p:cNvSpPr txBox="1"/>
          <p:nvPr/>
        </p:nvSpPr>
        <p:spPr>
          <a:xfrm xmlns:a="http://schemas.openxmlformats.org/drawingml/2006/main">
            <a:off x="1566000" y="2466000"/>
            <a:ext cx="504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8E2430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00108" name="TextBox 5"/>
          <p:cNvSpPr/>
          <p:nvPr/>
        </p:nvSpPr>
        <p:spPr>
          <a:xfrm xmlns:a="http://schemas.openxmlformats.org/drawingml/2006/main">
            <a:off x="4374000" y="2376000"/>
            <a:ext cx="504000" cy="50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84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9" name="TextBox 6"/>
          <p:cNvSpPr txBox="1"/>
          <p:nvPr/>
        </p:nvSpPr>
        <p:spPr>
          <a:xfrm xmlns:a="http://schemas.openxmlformats.org/drawingml/2006/main">
            <a:off x="4374000" y="2466000"/>
            <a:ext cx="504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8E2430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00110" name="TextBox 7"/>
          <p:cNvSpPr/>
          <p:nvPr/>
        </p:nvSpPr>
        <p:spPr>
          <a:xfrm xmlns:a="http://schemas.openxmlformats.org/drawingml/2006/main">
            <a:off x="7182000" y="2376000"/>
            <a:ext cx="504000" cy="50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84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11" name="TextBox 8"/>
          <p:cNvSpPr txBox="1"/>
          <p:nvPr/>
        </p:nvSpPr>
        <p:spPr>
          <a:xfrm xmlns:a="http://schemas.openxmlformats.org/drawingml/2006/main">
            <a:off x="7182000" y="2466000"/>
            <a:ext cx="504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8E2430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00112" name="TextBox 9"/>
          <p:cNvSpPr/>
          <p:nvPr/>
        </p:nvSpPr>
        <p:spPr>
          <a:xfrm xmlns:a="http://schemas.openxmlformats.org/drawingml/2006/main">
            <a:off x="9990000" y="2376000"/>
            <a:ext cx="504000" cy="50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84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13" name="TextBox 10"/>
          <p:cNvSpPr txBox="1"/>
          <p:nvPr/>
        </p:nvSpPr>
        <p:spPr>
          <a:xfrm xmlns:a="http://schemas.openxmlformats.org/drawingml/2006/main">
            <a:off x="9990000" y="2466000"/>
            <a:ext cx="504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8E2430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100114" name="B1"/>
          <p:cNvSpPr/>
          <p:nvPr/>
        </p:nvSpPr>
        <p:spPr>
          <a:xfrm xmlns:a="http://schemas.openxmlformats.org/drawingml/2006/main">
            <a:off x="576000" y="3096000"/>
            <a:ext cx="2340000" cy="118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E243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15" name="TextBox 12"/>
          <p:cNvSpPr txBox="1"/>
          <p:nvPr/>
        </p:nvSpPr>
        <p:spPr>
          <a:xfrm xmlns:a="http://schemas.openxmlformats.org/drawingml/2006/main">
            <a:off x="576000" y="3240000"/>
            <a:ext cx="234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700" b="1">
                <a:solidFill>
                  <a:srgbClr val="FFFFFF"/>
                </a:solidFill>
                <a:latin typeface="微软雅黑"/>
                <a:ea typeface="微软雅黑"/>
              </a:rPr>
              <a:t>关注招生简章</a:t>
            </a:r>
          </a:p>
        </p:txBody>
      </p:sp>
      <p:sp>
        <p:nvSpPr>
          <p:cNvPr id="100116" name="TextBox 13"/>
          <p:cNvSpPr txBox="1"/>
          <p:nvPr/>
        </p:nvSpPr>
        <p:spPr>
          <a:xfrm xmlns:a="http://schemas.openxmlformats.org/drawingml/2006/main">
            <a:off x="576000" y="3708000"/>
            <a:ext cx="23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>
                <a:solidFill>
                  <a:srgbClr val="F4E5D2"/>
                </a:solidFill>
                <a:latin typeface="微软雅黑"/>
                <a:ea typeface="微软雅黑"/>
              </a:rPr>
              <a:t>查政策、看专业与招生计划</a:t>
            </a:r>
          </a:p>
        </p:txBody>
      </p:sp>
      <p:sp>
        <p:nvSpPr>
          <p:cNvPr id="100117" name="B2"/>
          <p:cNvSpPr/>
          <p:nvPr/>
        </p:nvSpPr>
        <p:spPr>
          <a:xfrm xmlns:a="http://schemas.openxmlformats.org/drawingml/2006/main">
            <a:off x="3384000" y="3096000"/>
            <a:ext cx="2340000" cy="118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E243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18" name="TextBox 15"/>
          <p:cNvSpPr txBox="1"/>
          <p:nvPr/>
        </p:nvSpPr>
        <p:spPr>
          <a:xfrm xmlns:a="http://schemas.openxmlformats.org/drawingml/2006/main">
            <a:off x="3384000" y="3240000"/>
            <a:ext cx="234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700" b="1">
                <a:solidFill>
                  <a:srgbClr val="FFFFFF"/>
                </a:solidFill>
                <a:latin typeface="微软雅黑"/>
                <a:ea typeface="微软雅黑"/>
              </a:rPr>
              <a:t>网上填报志愿</a:t>
            </a:r>
          </a:p>
        </p:txBody>
      </p:sp>
      <p:sp>
        <p:nvSpPr>
          <p:cNvPr id="100119" name="TextBox 16"/>
          <p:cNvSpPr txBox="1"/>
          <p:nvPr/>
        </p:nvSpPr>
        <p:spPr>
          <a:xfrm xmlns:a="http://schemas.openxmlformats.org/drawingml/2006/main">
            <a:off x="3384000" y="3708000"/>
            <a:ext cx="23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>
                <a:solidFill>
                  <a:srgbClr val="F4E5D2"/>
                </a:solidFill>
                <a:latin typeface="微软雅黑"/>
                <a:ea typeface="微软雅黑"/>
              </a:rPr>
              <a:t>按本省批次与专业组填报</a:t>
            </a:r>
          </a:p>
        </p:txBody>
      </p:sp>
      <p:sp>
        <p:nvSpPr>
          <p:cNvPr id="100120" name="B3"/>
          <p:cNvSpPr/>
          <p:nvPr/>
        </p:nvSpPr>
        <p:spPr>
          <a:xfrm xmlns:a="http://schemas.openxmlformats.org/drawingml/2006/main">
            <a:off x="6192000" y="3096000"/>
            <a:ext cx="2340000" cy="118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E243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21" name="TextBox 18"/>
          <p:cNvSpPr txBox="1"/>
          <p:nvPr/>
        </p:nvSpPr>
        <p:spPr>
          <a:xfrm xmlns:a="http://schemas.openxmlformats.org/drawingml/2006/main">
            <a:off x="6192000" y="3240000"/>
            <a:ext cx="234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700" b="1">
                <a:solidFill>
                  <a:srgbClr val="FFFFFF"/>
                </a:solidFill>
                <a:latin typeface="微软雅黑"/>
                <a:ea typeface="微软雅黑"/>
              </a:rPr>
              <a:t>投档与录取</a:t>
            </a:r>
          </a:p>
        </p:txBody>
      </p:sp>
      <p:sp>
        <p:nvSpPr>
          <p:cNvPr id="100122" name="TextBox 19"/>
          <p:cNvSpPr txBox="1"/>
          <p:nvPr/>
        </p:nvSpPr>
        <p:spPr>
          <a:xfrm xmlns:a="http://schemas.openxmlformats.org/drawingml/2006/main">
            <a:off x="6192000" y="3708000"/>
            <a:ext cx="23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>
                <a:solidFill>
                  <a:srgbClr val="F4E5D2"/>
                </a:solidFill>
                <a:latin typeface="微软雅黑"/>
                <a:ea typeface="微软雅黑"/>
              </a:rPr>
              <a:t>关注投档线与录取结果</a:t>
            </a:r>
          </a:p>
        </p:txBody>
      </p:sp>
      <p:sp>
        <p:nvSpPr>
          <p:cNvPr id="100123" name="B4"/>
          <p:cNvSpPr/>
          <p:nvPr/>
        </p:nvSpPr>
        <p:spPr>
          <a:xfrm xmlns:a="http://schemas.openxmlformats.org/drawingml/2006/main">
            <a:off x="9000000" y="3096000"/>
            <a:ext cx="2340000" cy="118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E243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24" name="TextBox 21"/>
          <p:cNvSpPr txBox="1"/>
          <p:nvPr/>
        </p:nvSpPr>
        <p:spPr>
          <a:xfrm xmlns:a="http://schemas.openxmlformats.org/drawingml/2006/main">
            <a:off x="9000000" y="3240000"/>
            <a:ext cx="234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700" b="1">
                <a:solidFill>
                  <a:srgbClr val="FFFFFF"/>
                </a:solidFill>
                <a:latin typeface="微软雅黑"/>
                <a:ea typeface="微软雅黑"/>
              </a:rPr>
              <a:t>报到注册</a:t>
            </a:r>
          </a:p>
        </p:txBody>
      </p:sp>
      <p:sp>
        <p:nvSpPr>
          <p:cNvPr id="100125" name="TextBox 22"/>
          <p:cNvSpPr txBox="1"/>
          <p:nvPr/>
        </p:nvSpPr>
        <p:spPr>
          <a:xfrm xmlns:a="http://schemas.openxmlformats.org/drawingml/2006/main">
            <a:off x="9000000" y="3708000"/>
            <a:ext cx="23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>
                <a:solidFill>
                  <a:srgbClr val="F4E5D2"/>
                </a:solidFill>
                <a:latin typeface="微软雅黑"/>
                <a:ea typeface="微软雅黑"/>
              </a:rPr>
              <a:t>按通知完成报到与入学</a:t>
            </a:r>
          </a:p>
        </p:txBody>
      </p:sp>
      <p:cxnSp>
        <p:nvCxnSpPr>
          <p:cNvPr id="100126" name="Connector 1"/>
          <p:cNvCxnSpPr>
            <a:stCxn xmlns:a="http://schemas.openxmlformats.org/drawingml/2006/main" id="100114" idx="0"/>
            <a:endCxn xmlns:a="http://schemas.openxmlformats.org/drawingml/2006/main" id="100117" idx="0"/>
          </p:cNvCxnSpPr>
          <p:nvPr/>
        </p:nvCxnSpPr>
        <p:spPr>
          <a:xfrm xmlns:a="http://schemas.openxmlformats.org/drawingml/2006/main">
            <a:off x="2916000" y="3690000"/>
            <a:ext cx="468000" cy="0"/>
          </a:xfrm>
          <a:prstGeom xmlns:a="http://schemas.openxmlformats.org/drawingml/2006/main" prst="bentConnector3">
            <a:avLst/>
          </a:prstGeom>
          <a:ln xmlns:a="http://schemas.openxmlformats.org/drawingml/2006/main" w="12700">
            <a:solidFill>
              <a:srgbClr val="8E2430"/>
            </a:solidFill>
            <a:tailEnd type="triangle"/>
          </a:ln>
        </p:spPr>
      </p:cxnSp>
      <p:cxnSp>
        <p:nvCxnSpPr>
          <p:cNvPr id="100127" name="Connector 2"/>
          <p:cNvCxnSpPr>
            <a:stCxn xmlns:a="http://schemas.openxmlformats.org/drawingml/2006/main" id="100117" idx="0"/>
            <a:endCxn xmlns:a="http://schemas.openxmlformats.org/drawingml/2006/main" id="100120" idx="0"/>
          </p:cNvCxnSpPr>
          <p:nvPr/>
        </p:nvCxnSpPr>
        <p:spPr>
          <a:xfrm xmlns:a="http://schemas.openxmlformats.org/drawingml/2006/main">
            <a:off x="5724000" y="3690000"/>
            <a:ext cx="468000" cy="0"/>
          </a:xfrm>
          <a:prstGeom xmlns:a="http://schemas.openxmlformats.org/drawingml/2006/main" prst="bentConnector3">
            <a:avLst/>
          </a:prstGeom>
          <a:ln xmlns:a="http://schemas.openxmlformats.org/drawingml/2006/main" w="12700">
            <a:solidFill>
              <a:srgbClr val="8E2430"/>
            </a:solidFill>
            <a:tailEnd type="triangle"/>
          </a:ln>
        </p:spPr>
      </p:cxnSp>
      <p:cxnSp>
        <p:nvCxnSpPr>
          <p:cNvPr id="100128" name="Connector 3"/>
          <p:cNvCxnSpPr>
            <a:stCxn xmlns:a="http://schemas.openxmlformats.org/drawingml/2006/main" id="100120" idx="0"/>
            <a:endCxn xmlns:a="http://schemas.openxmlformats.org/drawingml/2006/main" id="100123" idx="0"/>
          </p:cNvCxnSpPr>
          <p:nvPr/>
        </p:nvCxnSpPr>
        <p:spPr>
          <a:xfrm xmlns:a="http://schemas.openxmlformats.org/drawingml/2006/main">
            <a:off x="8532000" y="3690000"/>
            <a:ext cx="468000" cy="0"/>
          </a:xfrm>
          <a:prstGeom xmlns:a="http://schemas.openxmlformats.org/drawingml/2006/main" prst="bentConnector3">
            <a:avLst/>
          </a:prstGeom>
          <a:ln xmlns:a="http://schemas.openxmlformats.org/drawingml/2006/main" w="12700">
            <a:solidFill>
              <a:srgbClr val="8E2430"/>
            </a:solidFill>
            <a:tailEnd type="triangle"/>
          </a:ln>
        </p:spPr>
      </p:cxnSp>
      <p:sp>
        <p:nvSpPr>
          <p:cNvPr id="100129" name="TextBox 23"/>
          <p:cNvSpPr txBox="1"/>
          <p:nvPr/>
        </p:nvSpPr>
        <p:spPr>
          <a:xfrm xmlns:a="http://schemas.openxmlformats.org/drawingml/2006/main">
            <a:off x="576000" y="4752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8E7C6E"/>
                </a:solidFill>
                <a:latin typeface="微软雅黑"/>
                <a:ea typeface="微软雅黑"/>
              </a:rPr>
              <a:t>注：各环节具体时间以各省招办与学校官方网站发布为准。</a:t>
            </a:r>
          </a:p>
        </p:txBody>
      </p:sp>
      <p:sp>
        <p:nvSpPr>
          <p:cNvPr id="100130" name="TextBox 24"/>
          <p:cNvSpPr txBox="1"/>
          <p:nvPr/>
        </p:nvSpPr>
        <p:spPr>
          <a:xfrm xmlns:a="http://schemas.openxmlformats.org/drawingml/2006/main">
            <a:off x="10944000" y="6552000"/>
            <a:ext cx="7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200">
                <a:solidFill>
                  <a:srgbClr val="8E7C6E"/>
                </a:solidFill>
                <a:latin typeface="微软雅黑"/>
                <a:ea typeface="微软雅黑"/>
              </a:rPr>
              <a:t>9 / 10</a:t>
            </a: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8E2430"/>
        </a:solidFill>
      </p:bgPr>
    </p:bg>
    <p:spTree>
      <p:nvGrpSpPr>
        <p:cNvPr id="1" name=""/>
        <p:cNvGrpSpPr/>
        <p:nvPr/>
      </p:nvGrpSpPr>
      <p:grpSpPr/>
      <p:sp>
        <p:nvSpPr>
          <p:cNvPr id="100131" name="TextBox 1"/>
          <p:cNvSpPr txBox="1"/>
          <p:nvPr/>
        </p:nvSpPr>
        <p:spPr>
          <a:xfrm xmlns:a="http://schemas.openxmlformats.org/drawingml/2006/main">
            <a:off x="720000" y="2088000"/>
            <a:ext cx="107532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200" b="1">
                <a:solidFill>
                  <a:srgbClr val="FFFFFF"/>
                </a:solidFill>
                <a:latin typeface="微软雅黑"/>
                <a:ea typeface="微软雅黑"/>
              </a:rPr>
              <a:t>金榜题名 · 陕师大等你来</a:t>
            </a:r>
          </a:p>
        </p:txBody>
      </p:sp>
      <p:sp>
        <p:nvSpPr>
          <p:cNvPr id="100132" name="TextBox 2"/>
          <p:cNvSpPr txBox="1"/>
          <p:nvPr/>
        </p:nvSpPr>
        <p:spPr>
          <a:xfrm xmlns:a="http://schemas.openxmlformats.org/drawingml/2006/main">
            <a:off x="720000" y="3312000"/>
            <a:ext cx="107532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>
                <a:solidFill>
                  <a:srgbClr val="F4E5D2"/>
                </a:solidFill>
                <a:latin typeface="微软雅黑"/>
                <a:ea typeface="微软雅黑"/>
              </a:rPr>
              <a:t>选择陕西师范大学，成就更好的自己</a:t>
            </a:r>
          </a:p>
        </p:txBody>
      </p:sp>
      <p:sp>
        <p:nvSpPr>
          <p:cNvPr id="100133" name="TextBox 3"/>
          <p:cNvSpPr txBox="1"/>
          <p:nvPr/>
        </p:nvSpPr>
        <p:spPr>
          <a:xfrm xmlns:a="http://schemas.openxmlformats.org/drawingml/2006/main">
            <a:off x="720000" y="4032000"/>
            <a:ext cx="107532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D4A843"/>
                </a:solidFill>
                <a:latin typeface="微软雅黑"/>
                <a:ea typeface="微软雅黑"/>
              </a:rPr>
              <a:t>招生信息发布：学校本科招生网 · 官方微信公众号</a:t>
            </a:r>
          </a:p>
        </p:txBody>
      </p:sp>
      <p:sp>
        <p:nvSpPr>
          <p:cNvPr id="100134" name="TextBox 4"/>
          <p:cNvSpPr txBox="1"/>
          <p:nvPr/>
        </p:nvSpPr>
        <p:spPr>
          <a:xfrm xmlns:a="http://schemas.openxmlformats.org/drawingml/2006/main">
            <a:off x="720000" y="4536000"/>
            <a:ext cx="107532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F4E5D2"/>
                </a:solidFill>
                <a:latin typeface="微软雅黑"/>
                <a:ea typeface="微软雅黑"/>
              </a:rPr>
              <a:t>咨询方式以官网公布为准，谨防冒充官方人员实施的收费骗局</a:t>
            </a:r>
          </a:p>
        </p:txBody>
      </p:sp>
      <p:sp>
        <p:nvSpPr>
          <p:cNvPr id="100135" name="TextBox 5"/>
          <p:cNvSpPr txBox="1"/>
          <p:nvPr/>
        </p:nvSpPr>
        <p:spPr>
          <a:xfrm xmlns:a="http://schemas.openxmlformats.org/drawingml/2006/main">
            <a:off x="720000" y="5616000"/>
            <a:ext cx="107532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F4E5D2"/>
                </a:solidFill>
                <a:latin typeface="微软雅黑"/>
                <a:ea typeface="微软雅黑"/>
              </a:rPr>
              <a:t>祝所有考生金榜题名、前程似锦！</a:t>
            </a:r>
          </a:p>
        </p:txBody>
      </p:sp>
      <p:sp>
        <p:nvSpPr>
          <p:cNvPr id="100136" name="TextBox 6"/>
          <p:cNvSpPr/>
          <p:nvPr/>
        </p:nvSpPr>
        <p:spPr>
          <a:xfrm xmlns:a="http://schemas.openxmlformats.org/drawingml/2006/main">
            <a:off x="0" y="6642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84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37" name="TextBox 7"/>
          <p:cNvSpPr txBox="1"/>
          <p:nvPr/>
        </p:nvSpPr>
        <p:spPr>
          <a:xfrm xmlns:a="http://schemas.openxmlformats.org/drawingml/2006/main">
            <a:off x="10800000" y="6480000"/>
            <a:ext cx="936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200">
                <a:solidFill>
                  <a:srgbClr val="F4E5D2"/>
                </a:solidFill>
                <a:latin typeface="微软雅黑"/>
                <a:ea typeface="微软雅黑"/>
              </a:rPr>
              <a:t>10 / 10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OfficeCLI/1.0.147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2026-09-03T09:19:12Z</dcterms:created>
  <cp:lastModifiedBy>OfficeCLI</cp:lastModifiedBy>
  <dcterms:modified xsi:type="dcterms:W3CDTF">2026-09-03T09:19:12Z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1.0.147</vt:lpwstr>
  </op:property>
  <op:property fmtid="{D5CDD505-2E9C-101B-9397-08002B2CF9AE}" pid="3" name="OfficeCLI.LastModified">
    <vt:lpwstr xmlns:vt="http://schemas.openxmlformats.org/officeDocument/2006/docPropsVTypes">2026-09-03T09:40:54Z</vt:lpwstr>
  </op:property>
</op:Properties>
</file>